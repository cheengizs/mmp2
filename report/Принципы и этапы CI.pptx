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42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9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7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6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5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81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0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5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0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5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5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86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4348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47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44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07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09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6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57269-D10A-473C-B58C-37910C6FB68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6695E-87AF-4B63-A81C-8696E2946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1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AE82-6BA1-4353-EF33-127B5EE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82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Принципы и этапы CI/CD. Понятие и преимущества </a:t>
            </a:r>
            <a:r>
              <a:rPr lang="ru-RU" dirty="0" err="1"/>
              <a:t>IaC</a:t>
            </a:r>
            <a:r>
              <a:rPr lang="ru-RU" dirty="0"/>
              <a:t>. Инструменты CI/CD и </a:t>
            </a:r>
            <a:r>
              <a:rPr lang="ru-RU" dirty="0" err="1"/>
              <a:t>IaC</a:t>
            </a:r>
            <a:r>
              <a:rPr lang="ru-RU" dirty="0"/>
              <a:t>.</a:t>
            </a:r>
            <a:br>
              <a:rPr lang="ru-RU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F20EC-23A0-AFEA-3E4F-2481879E5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8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CEC5-659E-B483-71C0-2FE7A063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745567"/>
            <a:ext cx="10515600" cy="1325563"/>
          </a:xfrm>
        </p:spPr>
        <p:txBody>
          <a:bodyPr/>
          <a:lstStyle/>
          <a:p>
            <a:r>
              <a:rPr lang="en-US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7D0A-18C2-883B-96EA-E668C3C5F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Программная платформа для контейнеризации, которая позволяет упаковать приложение со всеми его настройками, библиотеками в единый контейнер, который будет запускаться на всех устройствах одинаково, на которых установлен докер. Аналоги. </a:t>
            </a:r>
            <a:r>
              <a:rPr lang="en-US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Podman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containerd</a:t>
            </a: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724A843-46A0-13A2-AE60-84AAD3E3E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28526"/>
            <a:ext cx="4486275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73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9BAC-3BB6-26BD-5B9C-3234EEF2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образов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E392-E70D-AAF6-38E0-D646B78C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6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Образ – это шаблон, который позволяет создавать контейнеры по своему образу. </a:t>
            </a:r>
            <a:b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создать образ, нужно создать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в котором будут находиться инструкции</a:t>
            </a:r>
          </a:p>
          <a:p>
            <a:pPr marL="0" indent="0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инструкций: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задает базовый образ, от которого создается контейнер с приложением, должна быть первой инструкцией в файле, за исключением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WORKDIR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задает рабочую область внутри контейнера для последующих команд	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копирует файлы или директории из контекста сборки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выполняет команду во время сборки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CMD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задает команду и аргументы выполнения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устанавливает переменные окружения, которые будут доступны как во время сборки, так и при работе запущенного контейнера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определяет переменные сборки (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arguments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Они доступны только на этапе сборки, не сохраняются в 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рантайме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EXPOSE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декларативно указывает, какие сетевые порты приложение слушает внутри контейнера (служит документацией, сам по себе порт на хосте не открывает).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357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57FD-F934-5A5A-8FE5-F3AB7A17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30998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19958-FCE2-3D4D-FD09-6B2DEAEDC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365125"/>
            <a:ext cx="5953760" cy="58118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BD663-31A0-4FDE-3857-D4D63DD6DF9D}"/>
              </a:ext>
            </a:extLst>
          </p:cNvPr>
          <p:cNvSpPr/>
          <p:nvPr/>
        </p:nvSpPr>
        <p:spPr>
          <a:xfrm>
            <a:off x="71120" y="516673"/>
            <a:ext cx="6096000" cy="4614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mcr.microsoft.com/dotnet/sdk:9.0</a:t>
            </a:r>
          </a:p>
          <a:p>
            <a:pPr marL="0" indent="0"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WORKDIR /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. .</a:t>
            </a:r>
          </a:p>
          <a:p>
            <a:pPr marL="0" indent="0"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dotnet restore</a:t>
            </a:r>
          </a:p>
          <a:p>
            <a:pPr marL="0" indent="0"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dotnet build -c Release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CEBC4C-3266-909E-32E9-EC6BEB485BB9}"/>
              </a:ext>
            </a:extLst>
          </p:cNvPr>
          <p:cNvSpPr/>
          <p:nvPr/>
        </p:nvSpPr>
        <p:spPr>
          <a:xfrm>
            <a:off x="6461760" y="516673"/>
            <a:ext cx="5588000" cy="63413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mcr.microsoft.com/dotnet/sdk:9.0</a:t>
            </a:r>
            <a:endParaRPr lang="ru-RU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WORKDIR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src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MyProject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csproj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dotnet restore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. 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RUN dotnet build -c Release --no-restore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80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2B6B-4B99-7E9F-DEA8-49F038F5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и запуск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D3EC1-45A0-992C-655B-DFBE3A8B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собрать образ нужно в директории с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 build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b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посмотреть библиотеку образов на </a:t>
            </a:r>
            <a:r>
              <a:rPr lang="ru-RU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пк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нужно выполнить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 images ls</a:t>
            </a:r>
            <a:b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запустить нужно выполнить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 run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host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&gt;:&lt;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container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--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container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u-R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8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673D-2D91-4941-0158-CDABEDB5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40280" y="527516"/>
            <a:ext cx="8610600" cy="1293028"/>
          </a:xfrm>
        </p:spPr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96D49-8247-B35F-D748-8272E9E37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276600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это про создание одного контейнера, докер </a:t>
            </a:r>
            <a:r>
              <a:rPr lang="ru-RU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композ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это инструмент для запуска </a:t>
            </a:r>
            <a:r>
              <a:rPr lang="ru-RU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многоконтейнерных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приложений. </a:t>
            </a:r>
            <a:r>
              <a:rPr lang="ru-RU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Докеркомпоз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файл – один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yaml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файл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AutoShape 4" descr="Docker Compose Icon &amp; Logo | Dashboard Icons &amp; Logos">
            <a:extLst>
              <a:ext uri="{FF2B5EF4-FFF2-40B4-BE49-F238E27FC236}">
                <a16:creationId xmlns:a16="http://schemas.microsoft.com/office/drawing/2014/main" id="{F5EF5818-1F2F-6E5D-21AE-AAED0E0B3B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3440" y="3276600"/>
            <a:ext cx="2854960" cy="285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09EDE6-45A4-E326-48E6-54A30955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005" y="73024"/>
            <a:ext cx="3681195" cy="267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8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339F-EBE1-7AD0-F666-EE428519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890607"/>
            <a:ext cx="8610600" cy="1293028"/>
          </a:xfrm>
        </p:spPr>
        <p:txBody>
          <a:bodyPr/>
          <a:lstStyle/>
          <a:p>
            <a:r>
              <a:rPr lang="ru-RU" dirty="0"/>
              <a:t>Базовые команды по управлению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F31AD-5F77-9BEF-CB3F-FA2ACB674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1)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compose</a:t>
            </a:r>
            <a:r>
              <a:rPr lang="ru-RU" sz="2400" dirty="0"/>
              <a:t> </a:t>
            </a:r>
            <a:r>
              <a:rPr lang="ru-RU" sz="2400" dirty="0" err="1"/>
              <a:t>up</a:t>
            </a:r>
            <a:r>
              <a:rPr lang="ru-RU" sz="2400" dirty="0"/>
              <a:t> -d – запуск приложения в </a:t>
            </a:r>
            <a:r>
              <a:rPr lang="ru-RU" sz="2400" dirty="0" err="1"/>
              <a:t>detached</a:t>
            </a:r>
            <a:r>
              <a:rPr lang="ru-RU" sz="2400" dirty="0"/>
              <a:t> режиме, то есть логи не будут писаться вам в терминал</a:t>
            </a:r>
          </a:p>
          <a:p>
            <a:r>
              <a:rPr lang="ru-RU" sz="2400" dirty="0"/>
              <a:t>2)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compose</a:t>
            </a:r>
            <a:r>
              <a:rPr lang="ru-RU" sz="2400" dirty="0"/>
              <a:t> </a:t>
            </a:r>
            <a:r>
              <a:rPr lang="ru-RU" sz="2400" dirty="0" err="1"/>
              <a:t>ps</a:t>
            </a:r>
            <a:r>
              <a:rPr lang="ru-RU" sz="2400" dirty="0"/>
              <a:t> – отображает статус запущенного проекта </a:t>
            </a:r>
          </a:p>
          <a:p>
            <a:r>
              <a:rPr lang="ru-RU" sz="2400" dirty="0"/>
              <a:t>3)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compose</a:t>
            </a:r>
            <a:r>
              <a:rPr lang="ru-RU" sz="2400" dirty="0"/>
              <a:t> </a:t>
            </a:r>
            <a:r>
              <a:rPr lang="ru-RU" sz="2400" dirty="0" err="1"/>
              <a:t>stop</a:t>
            </a:r>
            <a:r>
              <a:rPr lang="ru-RU" sz="2400" dirty="0"/>
              <a:t> – останавливает контейнеры без удаления</a:t>
            </a:r>
          </a:p>
          <a:p>
            <a:r>
              <a:rPr lang="ru-RU" sz="2400" dirty="0"/>
              <a:t>4)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compose</a:t>
            </a:r>
            <a:r>
              <a:rPr lang="ru-RU" sz="2400" dirty="0"/>
              <a:t> </a:t>
            </a:r>
            <a:r>
              <a:rPr lang="ru-RU" sz="2400" dirty="0" err="1"/>
              <a:t>down</a:t>
            </a:r>
            <a:r>
              <a:rPr lang="ru-RU" sz="2400" dirty="0"/>
              <a:t> -  останавливает контейнеры и удаляет их и виртуальные сети</a:t>
            </a:r>
          </a:p>
          <a:p>
            <a:r>
              <a:rPr lang="ru-RU" sz="2400" dirty="0"/>
              <a:t>5)	</a:t>
            </a:r>
            <a:r>
              <a:rPr lang="ru-RU" sz="2400" dirty="0" err="1"/>
              <a:t>docker</a:t>
            </a:r>
            <a:r>
              <a:rPr lang="ru-RU" sz="2400" dirty="0"/>
              <a:t> </a:t>
            </a:r>
            <a:r>
              <a:rPr lang="ru-RU" sz="2400" dirty="0" err="1"/>
              <a:t>compose</a:t>
            </a:r>
            <a:r>
              <a:rPr lang="ru-RU" sz="2400" dirty="0"/>
              <a:t> </a:t>
            </a:r>
            <a:r>
              <a:rPr lang="ru-RU" sz="2400" dirty="0" err="1"/>
              <a:t>down</a:t>
            </a:r>
            <a:r>
              <a:rPr lang="ru-RU" sz="2400" dirty="0"/>
              <a:t> -v – останавливает контейнеры, удаляет их, </a:t>
            </a:r>
            <a:r>
              <a:rPr lang="ru-RU" sz="2400" dirty="0" err="1"/>
              <a:t>виртуаьлные</a:t>
            </a:r>
            <a:r>
              <a:rPr lang="ru-RU" sz="2400" dirty="0"/>
              <a:t> сети и тома тоже.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021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8452-BD33-7A33-CC34-42D32CAB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09327"/>
            <a:ext cx="8610600" cy="1293028"/>
          </a:xfrm>
        </p:spPr>
        <p:txBody>
          <a:bodyPr/>
          <a:lstStyle/>
          <a:p>
            <a:r>
              <a:rPr lang="en-US" dirty="0"/>
              <a:t>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39FF-1A0C-2E0C-0AA4-6B80AC06F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Докер </a:t>
            </a:r>
            <a:r>
              <a:rPr lang="ru-RU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композ</a:t>
            </a: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позволяет запускать приложения на одном конкретном сервере. Есть инструмент, который позволяет управлять сразу кластером сервером, это </a:t>
            </a:r>
            <a:r>
              <a:rPr lang="ru-RU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кубернетес</a:t>
            </a: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Кубернетес</a:t>
            </a: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оркестратор, который управляет развертыванием контейнеров, его циклом жизни, может сам поддерживать жизнеспособность контейнера.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Главная идея к8с – скрыть железо от разработчика. Мы просто декларативным образом с помощью </a:t>
            </a:r>
            <a:r>
              <a:rPr lang="en-U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yaml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файла задаем количество реплик контейнера, сколько ему выдавать ядер, оперативки, по какому домену они будут доступны. К8с берет реализацию на себя.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379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2607-E239-26F6-9B22-3E82AAAA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95413"/>
            <a:ext cx="8610600" cy="1293028"/>
          </a:xfrm>
        </p:spPr>
        <p:txBody>
          <a:bodyPr/>
          <a:lstStyle/>
          <a:p>
            <a:r>
              <a:rPr lang="ru-RU" dirty="0"/>
              <a:t>Основные понятия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ACFE-189E-9A4B-83CF-0A56F2807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6937"/>
            <a:ext cx="10820400" cy="4024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•	Под – наименьшая и самая базовая единица развертывания</a:t>
            </a:r>
          </a:p>
          <a:p>
            <a:pPr marL="0" indent="0">
              <a:buNone/>
            </a:pPr>
            <a:r>
              <a:rPr lang="ru-RU" sz="2000" dirty="0"/>
              <a:t>•	Service – абстракция которая предоставляет постоянный </a:t>
            </a:r>
            <a:r>
              <a:rPr lang="ru-RU" sz="2000" dirty="0" err="1"/>
              <a:t>ip</a:t>
            </a:r>
            <a:r>
              <a:rPr lang="ru-RU" sz="2000" dirty="0"/>
              <a:t>-адрес и </a:t>
            </a:r>
            <a:r>
              <a:rPr lang="ru-RU" sz="2000" dirty="0" err="1"/>
              <a:t>днс</a:t>
            </a:r>
            <a:r>
              <a:rPr lang="ru-RU" sz="2000" dirty="0"/>
              <a:t> имя и балансирует нагрузку между подами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dirty="0" err="1"/>
              <a:t>Deployment</a:t>
            </a:r>
            <a:r>
              <a:rPr lang="ru-RU" sz="2000" dirty="0"/>
              <a:t> – </a:t>
            </a:r>
            <a:r>
              <a:rPr lang="ru-RU" sz="2000" dirty="0" err="1"/>
              <a:t>упарвляющий</a:t>
            </a:r>
            <a:r>
              <a:rPr lang="ru-RU" sz="2000" dirty="0"/>
              <a:t> контроллер над подами, который обеспечивает:</a:t>
            </a:r>
          </a:p>
          <a:p>
            <a:pPr marL="0" indent="0">
              <a:buNone/>
            </a:pPr>
            <a:r>
              <a:rPr lang="ru-RU" sz="2000" dirty="0"/>
              <a:t>o	Декларативное состояние: например </a:t>
            </a:r>
            <a:r>
              <a:rPr lang="ru-RU" sz="2000" dirty="0" err="1"/>
              <a:t>replicas</a:t>
            </a:r>
            <a:r>
              <a:rPr lang="ru-RU" sz="2000" dirty="0"/>
              <a:t>: 3</a:t>
            </a:r>
          </a:p>
          <a:p>
            <a:pPr marL="0" indent="0">
              <a:buNone/>
            </a:pPr>
            <a:r>
              <a:rPr lang="ru-RU" sz="2000" dirty="0"/>
              <a:t>o	Бесшовное обновление: </a:t>
            </a:r>
            <a:r>
              <a:rPr lang="ru-RU" sz="2000" dirty="0" err="1"/>
              <a:t>деплоймент</a:t>
            </a:r>
            <a:r>
              <a:rPr lang="ru-RU" sz="2000" dirty="0"/>
              <a:t> не убивает все поды разом, он поочередно убивает поды </a:t>
            </a:r>
            <a:r>
              <a:rPr lang="ru-RU" sz="2000" dirty="0" err="1"/>
              <a:t>по-одному</a:t>
            </a:r>
            <a:r>
              <a:rPr lang="ru-RU" sz="2000" dirty="0"/>
              <a:t> (можно настроить), чтобы не было простоя.</a:t>
            </a:r>
          </a:p>
          <a:p>
            <a:pPr marL="0" indent="0">
              <a:buNone/>
            </a:pPr>
            <a:r>
              <a:rPr lang="ru-RU" sz="2000" dirty="0"/>
              <a:t>o	</a:t>
            </a:r>
            <a:r>
              <a:rPr lang="ru-RU" sz="2000" dirty="0" err="1"/>
              <a:t>Rollback</a:t>
            </a:r>
            <a:r>
              <a:rPr lang="ru-RU" sz="2000" dirty="0"/>
              <a:t> – можно откатиться если что-то пошло не так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dirty="0" err="1"/>
              <a:t>ConfigMap</a:t>
            </a:r>
            <a:r>
              <a:rPr lang="ru-RU" sz="2000" dirty="0"/>
              <a:t> – служит для хранения несекретных данных.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 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служит для хранения чувствительной информацией. Под капотом данные в манифесте хранятся в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64 кодировке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Helm 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пакетный менеджер для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Шаблонизатор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 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шаблоны манифестов.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yaml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файл с конкретными переменными,  которые подставляются в шаблоны.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Release –</a:t>
            </a:r>
            <a:r>
              <a:rPr lang="ru-RU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запущенный экземпляр чарта в кластере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137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E115-4D5C-4A9B-108F-DDFFB2ED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8D60-79AD-05D1-FE91-40357DB4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1)	</a:t>
            </a:r>
            <a:r>
              <a:rPr lang="ru-RU" dirty="0" err="1"/>
              <a:t>control-plane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a.	</a:t>
            </a:r>
            <a:r>
              <a:rPr lang="ru-RU" dirty="0" err="1"/>
              <a:t>kube-apiserver</a:t>
            </a:r>
            <a:r>
              <a:rPr lang="ru-RU" dirty="0"/>
              <a:t> – точка входа для запросов </a:t>
            </a:r>
            <a:r>
              <a:rPr lang="ru-RU" dirty="0" err="1"/>
              <a:t>kubectl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b.	</a:t>
            </a:r>
            <a:r>
              <a:rPr lang="ru-RU" dirty="0" err="1"/>
              <a:t>etcd</a:t>
            </a:r>
            <a:r>
              <a:rPr lang="ru-RU" dirty="0"/>
              <a:t> – </a:t>
            </a:r>
            <a:r>
              <a:rPr lang="ru-RU" dirty="0" err="1"/>
              <a:t>key-value</a:t>
            </a:r>
            <a:r>
              <a:rPr lang="ru-RU" dirty="0"/>
              <a:t> хранилище, где лежит состояние кластера и конфигурации</a:t>
            </a:r>
          </a:p>
          <a:p>
            <a:pPr marL="0" indent="0">
              <a:buNone/>
            </a:pPr>
            <a:r>
              <a:rPr lang="ru-RU" dirty="0"/>
              <a:t>c.	</a:t>
            </a:r>
            <a:r>
              <a:rPr lang="ru-RU" dirty="0" err="1"/>
              <a:t>kube-scheduler</a:t>
            </a:r>
            <a:r>
              <a:rPr lang="ru-RU" dirty="0"/>
              <a:t> – распределяет контейнеры по серверам в зависимости от свободных ресурсов</a:t>
            </a:r>
          </a:p>
          <a:p>
            <a:pPr marL="0" indent="0">
              <a:buNone/>
            </a:pPr>
            <a:r>
              <a:rPr lang="ru-RU" dirty="0"/>
              <a:t>d.	</a:t>
            </a:r>
            <a:r>
              <a:rPr lang="ru-RU" dirty="0" err="1"/>
              <a:t>kube-controller-manager</a:t>
            </a:r>
            <a:r>
              <a:rPr lang="ru-RU" dirty="0"/>
              <a:t> – собственно и выполняет запросы от </a:t>
            </a:r>
            <a:r>
              <a:rPr lang="ru-RU" dirty="0" err="1"/>
              <a:t>kube-apiserver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2)	</a:t>
            </a:r>
            <a:r>
              <a:rPr lang="ru-RU" dirty="0" err="1"/>
              <a:t>worker-node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a.	</a:t>
            </a:r>
            <a:r>
              <a:rPr lang="ru-RU" dirty="0" err="1"/>
              <a:t>kubelet</a:t>
            </a:r>
            <a:r>
              <a:rPr lang="ru-RU" dirty="0"/>
              <a:t> – обеспечивает работу подов, включая их контейнеры. </a:t>
            </a:r>
          </a:p>
          <a:p>
            <a:pPr marL="0" indent="0">
              <a:buNone/>
            </a:pPr>
            <a:r>
              <a:rPr lang="ru-RU" dirty="0"/>
              <a:t>b.	</a:t>
            </a:r>
            <a:r>
              <a:rPr lang="ru-RU" dirty="0" err="1"/>
              <a:t>kube-proxy</a:t>
            </a:r>
            <a:r>
              <a:rPr lang="ru-RU" dirty="0"/>
              <a:t> – задает правила сети для поддержки </a:t>
            </a:r>
            <a:r>
              <a:rPr lang="ru-RU" dirty="0" err="1"/>
              <a:t>services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87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9F00-B049-FB9A-52F8-FA7E30D0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ci\cd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9515-3B91-696B-99EC-62B137B5E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err="1"/>
              <a:t>Ci</a:t>
            </a:r>
            <a:r>
              <a:rPr lang="ru-RU" dirty="0"/>
              <a:t>\</a:t>
            </a:r>
            <a:r>
              <a:rPr lang="ru-RU" dirty="0" err="1"/>
              <a:t>cd</a:t>
            </a:r>
            <a:r>
              <a:rPr lang="ru-RU" dirty="0"/>
              <a:t> методология автоматизации сборки, тестирования и доставки приложения. Позволяет уменьшить </a:t>
            </a:r>
            <a:r>
              <a:rPr lang="ru-RU" dirty="0" err="1"/>
              <a:t>downtime</a:t>
            </a:r>
            <a:r>
              <a:rPr lang="ru-RU" dirty="0"/>
              <a:t> при релизе и понизить порог входа, уменьшает мануальные действия.</a:t>
            </a:r>
          </a:p>
          <a:p>
            <a:pPr marL="0" indent="0">
              <a:buNone/>
            </a:pP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Integration</a:t>
            </a:r>
            <a:r>
              <a:rPr lang="ru-RU" dirty="0"/>
              <a:t> (Непрерывная интеграция): практика регулярного слияния кода всех разработчиков в общую ветку (по несколько раз в день). Каждый коммит автоматически собирается и тестируется. Цель: как можно раньше обнаружить баги и конфликты слияния, пока они стоят дешево.</a:t>
            </a:r>
          </a:p>
          <a:p>
            <a:pPr marL="0" indent="0">
              <a:buNone/>
            </a:pPr>
            <a:r>
              <a:rPr lang="ru-RU" dirty="0" err="1"/>
              <a:t>Continuous</a:t>
            </a:r>
            <a:r>
              <a:rPr lang="ru-RU" dirty="0"/>
              <a:t> Delivery (Непрерывная доставка): автоматическая подготовка проверенного и собранного артефакта (например, </a:t>
            </a:r>
            <a:r>
              <a:rPr lang="ru-RU" dirty="0" err="1"/>
              <a:t>Docker</a:t>
            </a:r>
            <a:r>
              <a:rPr lang="ru-RU" dirty="0"/>
              <a:t>-образа), готового к раскатке на продакшен в любой момент. Сам деплой на боевой сервер запускается человеком по нажатию кнопки («ручной </a:t>
            </a:r>
            <a:r>
              <a:rPr lang="ru-RU" dirty="0" err="1"/>
              <a:t>аппрув</a:t>
            </a:r>
            <a:r>
              <a:rPr lang="ru-RU" dirty="0"/>
              <a:t>»).</a:t>
            </a:r>
          </a:p>
          <a:p>
            <a:pPr marL="0" indent="0">
              <a:buNone/>
            </a:pP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Deployment</a:t>
            </a:r>
            <a:r>
              <a:rPr lang="ru-RU" dirty="0"/>
              <a:t> (Непрерывное развертывание): полная автоматизация без участия человека. Если код прошел все проверки и тесты в ветке </a:t>
            </a:r>
            <a:r>
              <a:rPr lang="ru-RU" dirty="0" err="1"/>
              <a:t>main</a:t>
            </a:r>
            <a:r>
              <a:rPr lang="ru-RU" dirty="0"/>
              <a:t>, он автоматически выкатывается прямо на продакшен-серверы.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1052-BF69-9599-5A7E-4D5E6AB3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</a:t>
            </a:r>
            <a:r>
              <a:rPr lang="en-US" dirty="0"/>
              <a:t>ci\cd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7F525-B7DA-E726-E223-2148ABB81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пайплайн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сценарий автоматизации. Единый скрипт в </a:t>
            </a:r>
            <a:r>
              <a:rPr lang="en-US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yaml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формате, который платформа берет на исполнение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stages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логические разделы конвейера, выполняются строго последовательно, если 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 stage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упал, тогда 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deploy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даже не начнет выполняться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jobs 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единицы работы внутри одного </a:t>
            </a:r>
            <a:r>
              <a:rPr lang="ru-RU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стэйджа</a:t>
            </a:r>
            <a:r>
              <a:rPr lang="ru-RU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могут выполняться параллельно. 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062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73CC-A1EE-2E14-7423-D91946F5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0"/>
            <a:ext cx="8610600" cy="1293028"/>
          </a:xfrm>
        </p:spPr>
        <p:txBody>
          <a:bodyPr>
            <a:normAutofit/>
          </a:bodyPr>
          <a:lstStyle/>
          <a:p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IaC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(infrastructure as code)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2CC8-02D6-BB62-102A-1515916AE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6937"/>
            <a:ext cx="10820400" cy="4024125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IaC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подход к управлению и настройке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инфры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через конфиг файлы, а не ручным способом через скрипты и тому подобное. Описываемый желаемый результат, а не задаем алгоритмы.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Проблемы до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IaC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Каждый сервер хранил собственное состояние кода, потому что из-за человеческого фактора сисадмины могли 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задеплоить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разные версии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Новое развертывание версии занимало много времени и требовало сложных алгоритмов.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Дрейф конфигурации. Конфиги прода и теста могли отличаться, из-за чего ответ на одинаковые действия могли давать непредсказуемый результат.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Преимущества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IaC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Версионирование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Любое изменение инфраструктуры проходит через Pull/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код-ревью и аудит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Идемпотентность (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Idempotence</a:t>
            </a: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Фундаментальный принцип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IaC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Сколько бы раз вы ни запускали скрипт — один раз или сто раз подряд — результат будет одинаковым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Неизменяемая инфраструктура (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Immutable Infrastructure</a:t>
            </a: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Вместо того чтобы накатывать обновления на работающий сервер, старый сервер уничтожается, а на его место поднимается новый из свежего образа с уже примененными изменениями.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34563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</TotalTime>
  <Words>1129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Symbol</vt:lpstr>
      <vt:lpstr>Vapor Trail</vt:lpstr>
      <vt:lpstr>Принципы и этапы CI/CD. Понятие и преимущества IaC. Инструменты CI/CD и IaC. </vt:lpstr>
      <vt:lpstr>Docker</vt:lpstr>
      <vt:lpstr>Создание образов</vt:lpstr>
      <vt:lpstr>PowerPoint Presentation</vt:lpstr>
      <vt:lpstr>Сборка и запуск</vt:lpstr>
      <vt:lpstr>Docker compose</vt:lpstr>
      <vt:lpstr>Базовые команды по управлению</vt:lpstr>
      <vt:lpstr>Kubernetes</vt:lpstr>
      <vt:lpstr>Основные понятия</vt:lpstr>
      <vt:lpstr>Архитектура</vt:lpstr>
      <vt:lpstr>Основы ci\cd</vt:lpstr>
      <vt:lpstr>основные понятия ci\cd</vt:lpstr>
      <vt:lpstr>IaC (infrastructure as code)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</dc:creator>
  <cp:lastModifiedBy>Artem</cp:lastModifiedBy>
  <cp:revision>1</cp:revision>
  <dcterms:created xsi:type="dcterms:W3CDTF">2026-09-14T15:41:40Z</dcterms:created>
  <dcterms:modified xsi:type="dcterms:W3CDTF">2026-09-14T15:50:50Z</dcterms:modified>
</cp:coreProperties>
</file>